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9"/>
    <p:restoredTop sz="96260"/>
  </p:normalViewPr>
  <p:slideViewPr>
    <p:cSldViewPr snapToGrid="0">
      <p:cViewPr varScale="1">
        <p:scale>
          <a:sx n="136" d="100"/>
          <a:sy n="136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278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04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01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46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747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013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899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759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40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477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027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96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7510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9439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79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197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80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879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02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574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1289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494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9452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48020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484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574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188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26F29930-640A-C742-8591-A286472A6D45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0B5D14D7-2FCC-FC49-9FE4-E11495801B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603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  <p:sldLayoutId id="2147483849" r:id="rId17"/>
    <p:sldLayoutId id="2147483850" r:id="rId18"/>
    <p:sldLayoutId id="2147483851" r:id="rId19"/>
    <p:sldLayoutId id="2147483852" r:id="rId20"/>
    <p:sldLayoutId id="2147483853" r:id="rId21"/>
    <p:sldLayoutId id="2147483854" r:id="rId22"/>
    <p:sldLayoutId id="2147483855" r:id="rId23"/>
    <p:sldLayoutId id="2147483856" r:id="rId24"/>
    <p:sldLayoutId id="2147483857" r:id="rId25"/>
    <p:sldLayoutId id="2147483858" r:id="rId26"/>
    <p:sldLayoutId id="2147483859" r:id="rId27"/>
    <p:sldLayoutId id="2147483860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4CBBC9-A400-51B6-C552-B3BD90F5A57C}"/>
              </a:ext>
            </a:extLst>
          </p:cNvPr>
          <p:cNvSpPr txBox="1"/>
          <p:nvPr/>
        </p:nvSpPr>
        <p:spPr>
          <a:xfrm>
            <a:off x="1045130" y="2598003"/>
            <a:ext cx="101017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4800" dirty="0"/>
              <a:t>PR-level EDA Code Review Benchmark</a:t>
            </a:r>
            <a:endParaRPr kumimoji="1"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893280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1EE40-124C-57AF-1C13-0E89E21F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B5731A-C5FE-3D74-D675-37148E5C12FD}"/>
              </a:ext>
            </a:extLst>
          </p:cNvPr>
          <p:cNvSpPr txBox="1"/>
          <p:nvPr/>
        </p:nvSpPr>
        <p:spPr>
          <a:xfrm>
            <a:off x="0" y="0"/>
            <a:ext cx="5949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/>
              <a:t>EDA Code Review Benchmark</a:t>
            </a:r>
            <a:endParaRPr kumimoji="1" lang="zh-CN" altLang="en-US" sz="3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F3AEE1-4DE4-F9F7-D286-ECF477159B46}"/>
              </a:ext>
            </a:extLst>
          </p:cNvPr>
          <p:cNvSpPr txBox="1"/>
          <p:nvPr/>
        </p:nvSpPr>
        <p:spPr>
          <a:xfrm>
            <a:off x="0" y="646331"/>
            <a:ext cx="1035033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kumimoji="1" lang="zh-CN" altLang="en-US" sz="2400" dirty="0"/>
              <a:t>数据收集流程</a:t>
            </a:r>
            <a:endParaRPr kumimoji="1" lang="en-US" altLang="zh-CN" sz="2400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zh-CN" altLang="zh-CN" dirty="0"/>
              <a:t>完整抓取 PR 的版本和评论信息</a:t>
            </a:r>
            <a:endParaRPr lang="en-US" altLang="zh-CN" dirty="0"/>
          </a:p>
          <a:p>
            <a:pPr marL="800100" lvl="1" indent="-342900">
              <a:buFont typeface="Wingdings" pitchFamily="2" charset="2"/>
              <a:buChar char="Ø"/>
            </a:pPr>
            <a:r>
              <a:rPr kumimoji="1" lang="zh-CN" altLang="en-US" dirty="0"/>
              <a:t>每个 </a:t>
            </a:r>
            <a:r>
              <a:rPr kumimoji="1" lang="en" altLang="zh-CN" dirty="0"/>
              <a:t>PR </a:t>
            </a:r>
            <a:r>
              <a:rPr kumimoji="1" lang="zh-CN" altLang="en-US" dirty="0"/>
              <a:t>只选择一个“主要审查 </a:t>
            </a:r>
            <a:r>
              <a:rPr kumimoji="1" lang="en" altLang="zh-CN" dirty="0"/>
              <a:t>revision”</a:t>
            </a:r>
          </a:p>
          <a:p>
            <a:pPr marL="1257300" lvl="2" indent="-342900">
              <a:buFont typeface="Wingdings" pitchFamily="2" charset="2"/>
              <a:buChar char="Ø"/>
            </a:pPr>
            <a:r>
              <a:rPr lang="zh-CN" altLang="zh-CN" dirty="0"/>
              <a:t>按每条 inline comment 对应的 target revision 对评论进行分组统计</a:t>
            </a:r>
            <a:endParaRPr lang="en-US" altLang="zh-CN" dirty="0"/>
          </a:p>
          <a:p>
            <a:pPr marL="1257300" lvl="2" indent="-342900">
              <a:buFont typeface="Wingdings" pitchFamily="2" charset="2"/>
              <a:buChar char="Ø"/>
            </a:pPr>
            <a:r>
              <a:rPr lang="zh-CN" altLang="zh-CN" dirty="0"/>
              <a:t>获取每个 target revision 对应的 inline comment 数量</a:t>
            </a:r>
            <a:endParaRPr kumimoji="1" lang="en-US" altLang="zh-CN" dirty="0"/>
          </a:p>
          <a:p>
            <a:pPr marL="1257300" lvl="2" indent="-342900">
              <a:buFont typeface="Wingdings" pitchFamily="2" charset="2"/>
              <a:buChar char="Ø"/>
            </a:pPr>
            <a:r>
              <a:rPr lang="zh-CN" altLang="zh-CN" dirty="0"/>
              <a:t>选择 inline comment 数量最多的 revision 作为 target revision</a:t>
            </a:r>
            <a:endParaRPr kumimoji="1" lang="en-US" altLang="zh-CN" dirty="0"/>
          </a:p>
          <a:p>
            <a:pPr marL="1257300" lvl="2" indent="-342900">
              <a:buFont typeface="Wingdings" pitchFamily="2" charset="2"/>
              <a:buChar char="Ø"/>
            </a:pPr>
            <a:r>
              <a:rPr kumimoji="1" lang="zh-CN" altLang="en-US" dirty="0"/>
              <a:t>记录 </a:t>
            </a:r>
            <a:r>
              <a:rPr kumimoji="1" lang="en" altLang="zh-CN" dirty="0"/>
              <a:t>base commit </a:t>
            </a:r>
            <a:r>
              <a:rPr kumimoji="1" lang="zh-CN" altLang="en-US" dirty="0"/>
              <a:t>到 </a:t>
            </a:r>
            <a:r>
              <a:rPr kumimoji="1" lang="en" altLang="zh-CN" dirty="0"/>
              <a:t>target revision </a:t>
            </a:r>
            <a:r>
              <a:rPr kumimoji="1" lang="zh-CN" altLang="en-US" dirty="0"/>
              <a:t>之间的 </a:t>
            </a:r>
            <a:r>
              <a:rPr kumimoji="1" lang="en" altLang="zh-CN" dirty="0"/>
              <a:t>changed LOC</a:t>
            </a:r>
            <a:r>
              <a:rPr kumimoji="1" lang="zh-CN" altLang="en" dirty="0"/>
              <a:t>、</a:t>
            </a:r>
            <a:r>
              <a:rPr kumimoji="1" lang="en" altLang="zh-CN" dirty="0"/>
              <a:t>changed files </a:t>
            </a:r>
            <a:r>
              <a:rPr kumimoji="1" lang="zh-CN" altLang="en-US" dirty="0"/>
              <a:t>和 </a:t>
            </a:r>
            <a:r>
              <a:rPr kumimoji="1" lang="en" altLang="zh-CN" dirty="0"/>
              <a:t>diff hunks </a:t>
            </a:r>
            <a:r>
              <a:rPr kumimoji="1" lang="zh-CN" altLang="en-US" dirty="0"/>
              <a:t>数量 </a:t>
            </a:r>
          </a:p>
          <a:p>
            <a:pPr marL="800100" lvl="1" indent="-342900">
              <a:buFont typeface="Wingdings" pitchFamily="2" charset="2"/>
              <a:buChar char="Ø"/>
            </a:pPr>
            <a:r>
              <a:rPr lang="zh-CN" altLang="zh-CN" dirty="0"/>
              <a:t>将 PR 的 base commit 和 target revision 之间的完整变更作为 Selected Revision</a:t>
            </a:r>
            <a:r>
              <a:rPr lang="en-US" altLang="zh-CN" dirty="0"/>
              <a:t>	</a:t>
            </a:r>
            <a:endParaRPr kumimoji="1" lang="en-US" altLang="zh-CN" dirty="0"/>
          </a:p>
          <a:p>
            <a:pPr marL="800100" lvl="1" indent="-342900">
              <a:buFont typeface="Wingdings" pitchFamily="2" charset="2"/>
              <a:buChar char="Ø"/>
            </a:pPr>
            <a:r>
              <a:rPr lang="zh-CN" altLang="en-US" dirty="0"/>
              <a:t>将 </a:t>
            </a:r>
            <a:r>
              <a:rPr lang="en-US" altLang="zh-CN" dirty="0"/>
              <a:t>target revision </a:t>
            </a:r>
            <a:r>
              <a:rPr lang="zh-CN" altLang="en-US" dirty="0"/>
              <a:t>上的实质性 </a:t>
            </a:r>
            <a:r>
              <a:rPr lang="en-US" altLang="zh-CN" dirty="0"/>
              <a:t>inline comments </a:t>
            </a:r>
            <a:r>
              <a:rPr lang="zh-CN" altLang="en-US" dirty="0"/>
              <a:t>作为 </a:t>
            </a:r>
            <a:r>
              <a:rPr lang="en-US" altLang="zh-CN" dirty="0"/>
              <a:t>Reference Comments</a:t>
            </a:r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CEEF375-70C7-40AE-2D33-28E013D7D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86" y="3241226"/>
            <a:ext cx="8051629" cy="36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56040"/>
      </p:ext>
    </p:extLst>
  </p:cSld>
  <p:clrMapOvr>
    <a:masterClrMapping/>
  </p:clrMapOvr>
</p:sld>
</file>

<file path=ppt/theme/theme1.xml><?xml version="1.0" encoding="utf-8"?>
<a:theme xmlns:a="http://schemas.openxmlformats.org/drawingml/2006/main" name="障子">
  <a:themeElements>
    <a:clrScheme name="障子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177</TotalTime>
  <Words>113</Words>
  <Application>Microsoft Macintosh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Aptos Light</vt:lpstr>
      <vt:lpstr>Arial</vt:lpstr>
      <vt:lpstr>Walbaum Display</vt:lpstr>
      <vt:lpstr>Wingdings</vt:lpstr>
      <vt:lpstr>障子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Y2J</dc:creator>
  <cp:lastModifiedBy>Y2J</cp:lastModifiedBy>
  <cp:revision>12</cp:revision>
  <dcterms:created xsi:type="dcterms:W3CDTF">2026-09-21T02:17:24Z</dcterms:created>
  <dcterms:modified xsi:type="dcterms:W3CDTF">2026-09-21T12:47:17Z</dcterms:modified>
</cp:coreProperties>
</file>